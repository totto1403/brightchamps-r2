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</a:defRPr>
            </a:pPr>
            <a:r>
              <a:t>BRIGHTCHAMPS USA • Q4 2026 EXPANSION MANDATE</a:t>
            </a:r>
          </a:p>
          <a:p>
            <a:pPr>
              <a:spcAft>
                <a:spcPts val="1800"/>
              </a:spcAft>
              <a:defRPr sz="3200" b="1">
                <a:solidFill>
                  <a:srgbClr val="FFFFFF"/>
                </a:solidFill>
              </a:defRPr>
            </a:pPr>
            <a:r>
              <a:t>Scaling Inbound Volume to 5,500 Leads</a:t>
            </a:r>
            <a:br/>
            <a:r>
              <a:t>at $29.85 CPL via Geo-Marketing &amp; Product-Tech</a:t>
            </a:r>
          </a:p>
          <a:p>
            <a:pPr>
              <a:spcAft>
                <a:spcPts val="2800"/>
              </a:spcAft>
              <a:defRPr sz="1350">
                <a:solidFill>
                  <a:srgbClr val="C7D2FE"/>
                </a:solidFill>
              </a:defRPr>
            </a:pPr>
            <a:r>
              <a:t>A Dual-Pillar Framework Combining Mutually Exclusive Geo-Targeting with Monotonic Meta CAPI v21.0 &amp; Instant Intake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Stakeholder: Yatharth Sahoo (Senior Lead, Founder's Office) | Author: Bharanee B (AI Associate, Founder's Office | +91 7708221675)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FOUNDER'S OFFICE EXECUTIVE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Executive Strategy Canvas: Single-Source-of-Truth Scorecard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71323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338CA"/>
                </a:solidFill>
              </a:defRPr>
            </a:pPr>
            <a:r>
              <a:t>RECONCILED CORE SCORECARD (MODEL SINGLE SOURCE OF TRUTH)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Qualified Leads: </a:t>
            </a:r>
            <a:r>
              <a:rPr b="0" i="0" sz="900">
                <a:solidFill>
                  <a:srgbClr val="0F172A"/>
                </a:solidFill>
              </a:rPr>
              <a:t>5,500 Qualified Leads (Nov: 2,500 | Dec: 3,000)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Blended CPL: </a:t>
            </a:r>
            <a:r>
              <a:rPr b="0" i="0" sz="900">
                <a:solidFill>
                  <a:srgbClr val="0F172A"/>
                </a:solidFill>
              </a:rPr>
              <a:t>$29.85 USD (Spend: $164,175.00 vs $165,000 budget cap; $825 buffer)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Funnel Throughput: </a:t>
            </a:r>
            <a:r>
              <a:rPr b="0" i="0" sz="900">
                <a:solidFill>
                  <a:srgbClr val="0F172A"/>
                </a:solidFill>
              </a:rPr>
              <a:t>3,723 Demos Booked (67.7%) -&gt; 2,643 Attended (71.0% show rate)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Cost Per Attended Demo: </a:t>
            </a:r>
            <a:r>
              <a:rPr b="0" i="0" sz="900">
                <a:solidFill>
                  <a:srgbClr val="0F172A"/>
                </a:solidFill>
              </a:rPr>
              <a:t>$62.12 USD (North-Star KPI connecting media to attendance quality)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Paid Enrolled Students: </a:t>
            </a:r>
            <a:r>
              <a:rPr b="0" i="0" sz="900">
                <a:solidFill>
                  <a:srgbClr val="0F172A"/>
                </a:solidFill>
              </a:rPr>
              <a:t>473 Students (17.9% demo close rate | 8.60% full-funnel lead-to-paid)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Round 1 US Calibration: </a:t>
            </a:r>
            <a:r>
              <a:rPr b="0" i="0" sz="900">
                <a:solidFill>
                  <a:srgbClr val="0F172A"/>
                </a:solidFill>
              </a:rPr>
              <a:t>Base 8.60% is modeled ~10% below Round 1 US actual (9.5%)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Net Booked Revenue: </a:t>
            </a:r>
            <a:r>
              <a:rPr b="0" i="0" sz="900">
                <a:solidFill>
                  <a:srgbClr val="0F172A"/>
                </a:solidFill>
              </a:rPr>
              <a:t>$367,550.00 USD (Net blended ARPU: $777.06 after promo dilution)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Revenue Less Media Spend: </a:t>
            </a:r>
            <a:r>
              <a:rPr b="0" i="0" sz="900">
                <a:solidFill>
                  <a:srgbClr val="0F172A"/>
                </a:solidFill>
              </a:rPr>
              <a:t>$203,375.00 USD (Direct gross margin after advertising)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Assumed Gross Margin: </a:t>
            </a:r>
            <a:r>
              <a:rPr b="0" i="0" sz="900">
                <a:solidFill>
                  <a:srgbClr val="0F172A"/>
                </a:solidFill>
              </a:rPr>
              <a:t>55.0% (Assumed: 40% mentor payout + 5% platform COGS)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Contribution Margin: </a:t>
            </a:r>
            <a:r>
              <a:rPr b="0" i="0" sz="900">
                <a:solidFill>
                  <a:srgbClr val="0F172A"/>
                </a:solidFill>
              </a:rPr>
              <a:t>$37,977.50 USD (10.3% margin before closers, payment fees, refunds, creative)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First-Order Media ROAS: </a:t>
            </a:r>
            <a:r>
              <a:rPr b="0" i="0" sz="900">
                <a:solidFill>
                  <a:srgbClr val="0F172A"/>
                </a:solidFill>
              </a:rPr>
              <a:t>2.24x (Substantially exceeds 1.82x break-even ROAS)</a:t>
            </a:r>
          </a:p>
          <a:p>
            <a:pPr>
              <a:spcAft>
                <a:spcPts val="300"/>
              </a:spcAft>
            </a:pPr>
            <a:r>
              <a:rPr b="1" i="0" sz="900">
                <a:solidFill>
                  <a:srgbClr val="1E1B4B"/>
                </a:solidFill>
              </a:rPr>
              <a:t>First-Order GM LTV/CAC: </a:t>
            </a:r>
            <a:r>
              <a:rPr b="0" i="0" sz="900">
                <a:solidFill>
                  <a:srgbClr val="0F172A"/>
                </a:solidFill>
              </a:rPr>
              <a:t>1.23x ($777.06 x 55% GM / $347.09 CAC; excludes renewals)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5087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TOP 2 STRATEGIC RISKS &amp; MITIGATIONS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1. Q4 Ad Auction CPM Spikes: </a:t>
            </a:r>
            <a:r>
              <a:rPr b="0" i="0" sz="850">
                <a:solidFill>
                  <a:srgbClr val="0F172A"/>
                </a:solidFill>
              </a:rPr>
              <a:t>CPMs surge 40-60% during BFCM. Mitigate via front-loaded Nov 1-18 pacing, 50% Thanksgiving pause &amp; $42 bid caps.</a:t>
            </a:r>
          </a:p>
          <a:p>
            <a:r>
              <a:rPr b="1" i="0" sz="850">
                <a:solidFill>
                  <a:srgbClr val="1E1B4B"/>
                </a:solidFill>
              </a:rPr>
              <a:t>2. Weekend Peak Demo Demand: </a:t>
            </a:r>
            <a:r>
              <a:rPr b="0" i="0" sz="850">
                <a:solidFill>
                  <a:srgbClr val="0F172A"/>
                </a:solidFill>
              </a:rPr>
              <a:t>1.6x weekend surge pushes demand to 74.4 hrs (&gt;100% capacity). Mitigate via weekend daytime blocks (10 AM-3 PM) &amp; 6 flex mentors.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3774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40690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338CA"/>
                </a:solidFill>
              </a:defRPr>
            </a:pPr>
            <a:r>
              <a:t>THE IMMEDIATE ASK FOR LEADERSHIP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1. Budget Approval: Authorize $164,175 media plan ($77k Nov / $87.2k Dec).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2. Counselor Capacity: Confirm 16 dedicated US-shift mentors + 6 flex pool.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3. Holiday Voucher A/B Test: Authorize $150 voucher test vs premium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BRIGHTCHAMPS USA • FOUNDER'S OFFICE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1. The Core Challenge: The Volume vs. Quality vs. Cost Trilemma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1B4B"/>
                </a:solidFill>
              </a:defRPr>
            </a:pPr>
            <a:r>
              <a:t>TRAP 1: THE CHEAP LEAD TRAP</a:t>
            </a:r>
          </a:p>
          <a:p>
            <a:pPr>
              <a:spcAft>
                <a:spcPts val="1000"/>
              </a:spcAft>
              <a:defRPr sz="1800" b="1">
                <a:solidFill>
                  <a:srgbClr val="1E1B4B"/>
                </a:solidFill>
              </a:defRPr>
            </a:pPr>
            <a:r>
              <a:t>$15 - $20 CPL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Meta lead forms optimized on volume attract low-intent clickers, grandparents entering wrong numbers, or kids without laptop access.</a:t>
            </a:r>
            <a:br/>
            <a:br/>
            <a:r>
              <a:t>Result: Demo show rate collapses to &lt;30%, burning counselor payroll on empty Zoom rooms.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1B4B"/>
                </a:solidFill>
              </a:defRPr>
            </a:pPr>
            <a:r>
              <a:t>TRAP 2: THE BOUTIQUE TRAP</a:t>
            </a:r>
          </a:p>
          <a:p>
            <a:pPr>
              <a:spcAft>
                <a:spcPts val="1000"/>
              </a:spcAft>
              <a:defRPr sz="1800" b="1">
                <a:solidFill>
                  <a:srgbClr val="1E1B4B"/>
                </a:solidFill>
              </a:defRPr>
            </a:pPr>
            <a:r>
              <a:t>$45 - $60 CPL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Hyper-narrow targeting on Silicon Valley engineers exhausts audience frequency rapidly and inflates auction CPMs.</a:t>
            </a:r>
            <a:br/>
            <a:br/>
            <a:r>
              <a:t>Result: High trial conversion (25%+), but volume caps at &lt;800 leads and blows far past the $30 CPL mandate ceiling.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1B4B"/>
                </a:solidFill>
              </a:defRPr>
            </a:pPr>
            <a:r>
              <a:t>THE FOUNDER'S OFFICE SOLUTION</a:t>
            </a:r>
          </a:p>
          <a:p>
            <a:pPr>
              <a:spcAft>
                <a:spcPts val="1000"/>
              </a:spcAft>
              <a:defRPr sz="1800" b="1">
                <a:solidFill>
                  <a:srgbClr val="4338CA"/>
                </a:solidFill>
              </a:defRPr>
            </a:pPr>
            <a:r>
              <a:t>$29.85 BLENDED CPL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 Dual-Pillar Architecture:</a:t>
            </a:r>
            <a:br/>
            <a:r>
              <a:t>• Mutually Exclusive 3-Tier Geo Matrix balancing $36 tech hubs with $24 heartland volume.</a:t>
            </a:r>
            <a:br/>
            <a:r>
              <a:t>• Server-Side Meta CAPI v21.0 optimized on Schedule + dynamic intake with OTP and instant calendar lock (&lt;=48h).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BRIGHTCHAMPS USA • FOUNDER'S OFFICE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2. Pillar 1: Compliant Diaspora Wedge &amp; Advantage+ Control 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4338CA"/>
                </a:solidFill>
              </a:defRPr>
            </a:pPr>
            <a:r>
              <a:t>HOW DIASPORA &amp; STEM AUDIENCES ARE REACHED COMPLIANTLY</a:t>
            </a:r>
          </a:p>
          <a:p>
            <a:pPr>
              <a:spcAft>
                <a:spcPts val="800"/>
              </a:spcAft>
              <a:defRPr sz="850" i="1">
                <a:solidFill>
                  <a:srgbClr val="64748B"/>
                </a:solidFill>
              </a:defRPr>
            </a:pPr>
            <a:r>
              <a:t>Policy Context: Meta removed ethnicity and race detailed targeting options, and delivery is increasingly algorithmic. Direct ethnic targeting is prohibited. We reach high-propensity families through 6 operational proxies: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1. Value-Based Lookalikes from Paid US Customers: </a:t>
            </a:r>
            <a:r>
              <a:rPr b="0" i="0" sz="850">
                <a:solidFill>
                  <a:srgbClr val="0F172A"/>
                </a:solidFill>
              </a:rPr>
              <a:t>Seeded from paying customer lists; Meta ML organically skews to diaspora families based on behavioral and cultural signals.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2. Zip-Code Clustering in Premier School Districts: </a:t>
            </a:r>
            <a:r>
              <a:rPr b="0" i="0" sz="850">
                <a:solidFill>
                  <a:srgbClr val="0F172A"/>
                </a:solidFill>
              </a:rPr>
              <a:t>Top STEM school districts (Fremont 94539, Sunnyvale 94087, Frisco 75034, Edison 08820, Bellevue 98052, Alpharetta 30005, Cary 27519).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3. Academic Program Proxies: </a:t>
            </a:r>
            <a:r>
              <a:rPr b="0" i="0" sz="850">
                <a:solidFill>
                  <a:srgbClr val="0F172A"/>
                </a:solidFill>
              </a:rPr>
              <a:t>Parents (30-55) engaging with Kumon, Russian School of Math (RSM), Mathnasium, Singapore Math, USACO, and FIRST Robotics.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4. Community &amp; Referral Channels: </a:t>
            </a:r>
            <a:r>
              <a:rPr b="0" i="0" sz="850">
                <a:solidFill>
                  <a:srgbClr val="0F172A"/>
                </a:solidFill>
              </a:rPr>
              <a:t>In Round 1, US referral leads converted at 11.9% lead-to-paid vs 9.7% for Meta. Amplified via dedicated parent referral loops.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5. Broad / Advantage+ Control Arm (10-15% Budget): </a:t>
            </a:r>
            <a:r>
              <a:rPr b="0" i="0" sz="850">
                <a:solidFill>
                  <a:srgbClr val="0F172A"/>
                </a:solidFill>
              </a:rPr>
              <a:t>Unconstrained algorithmic delivery to empirically test if geo tiers beat Meta's algorithm on Cost Per Attended Demo ($62.12 baseline).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4338CA"/>
                </a:solidFill>
              </a:defRPr>
            </a:pPr>
            <a:r>
              <a:t>MUTUALLY EXCLUSIVE 3-TIER GEOGRAPHIC MATRIX</a:t>
            </a:r>
          </a:p>
          <a:p>
            <a:pPr>
              <a:spcAft>
                <a:spcPts val="200"/>
              </a:spcAft>
            </a:pPr>
            <a:r>
              <a:rPr b="1" i="0" sz="950">
                <a:solidFill>
                  <a:srgbClr val="1E1B4B"/>
                </a:solidFill>
              </a:rPr>
              <a:t>Tier 1: Core Tech &amp; Primary Metros (30% Vol | $36 CPL)</a:t>
            </a:r>
          </a:p>
          <a:p>
            <a:pPr>
              <a:spcAft>
                <a:spcPts val="600"/>
              </a:spcAft>
            </a:pPr>
            <a:r>
              <a:rPr b="0" i="0" sz="850">
                <a:solidFill>
                  <a:srgbClr val="0F172A"/>
                </a:solidFill>
              </a:rPr>
              <a:t>• SF Bay Area: Fremont, Sunnyvale, Cupertino, San Jose
• Seattle Belt: Bellevue, Redmond, Kirkland
• DFW Tech Wedge: Frisco, Plano, Irving
• NJ/NYC Metro: Edison, Iselin, Jersey City | Austin Hub: Austin, Round Rock</a:t>
            </a:r>
          </a:p>
          <a:p>
            <a:pPr>
              <a:spcAft>
                <a:spcPts val="200"/>
              </a:spcAft>
            </a:pPr>
            <a:r>
              <a:rPr b="1" i="0" sz="950">
                <a:solidFill>
                  <a:srgbClr val="1E1B4B"/>
                </a:solidFill>
              </a:rPr>
              <a:t>Tier 2: Affluent Suburban Corridors (45% Vol | $29 CPL)</a:t>
            </a:r>
          </a:p>
          <a:p>
            <a:pPr>
              <a:spcAft>
                <a:spcPts val="600"/>
              </a:spcAft>
            </a:pPr>
            <a:r>
              <a:rPr b="0" i="0" sz="850">
                <a:solidFill>
                  <a:srgbClr val="0F172A"/>
                </a:solidFill>
              </a:rPr>
              <a:t>• North Atlanta: Alpharetta, Johns Creek, Milton
• RTP NC: Cary, Morrisville, Apex | Chicago Suburbs: Naperville
• Northern VA: Fairfax, Ashburn | Orange County CA: Irvine
• Houston Suburbs: Sugar Land, Katy | Boston: Lexington, Newton</a:t>
            </a:r>
          </a:p>
          <a:p>
            <a:pPr>
              <a:spcAft>
                <a:spcPts val="200"/>
              </a:spcAft>
            </a:pPr>
            <a:r>
              <a:rPr b="1" i="0" sz="950">
                <a:solidFill>
                  <a:srgbClr val="1E1B4B"/>
                </a:solidFill>
              </a:rPr>
              <a:t>Tier 3: Inland &amp; Heartland America (25% Vol | $24 CPL)</a:t>
            </a:r>
          </a:p>
          <a:p>
            <a:pPr>
              <a:spcAft>
                <a:spcPts val="600"/>
              </a:spcAft>
            </a:pPr>
            <a:r>
              <a:rPr b="0" i="0" sz="850">
                <a:solidFill>
                  <a:srgbClr val="0F172A"/>
                </a:solidFill>
              </a:rPr>
              <a:t>• Non-metro Sunbelt, Midwest, Ohio, Indiana, Michigan, Missouri, Kansas, Iowa, Wisconsin, Inland Pennsylvania.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BRIGHTCHAMPS USA • FOUNDER'S OFFICE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3. Funnel Hypotheses &amp; Single-Source-of-Truth Tier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5486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E1B4B"/>
                </a:solidFill>
              </a:defRPr>
            </a:pPr>
            <a:r>
              <a:t>EMPIRICAL HYPOTHESES TO VALIDATE: Round 1 has no zip/income fields. Tier close rates (22/17/13%) and ARPUs ($850/$750/$650) are testable hypotheses to validate in Days 1-10.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1188720"/>
                <a:gridCol w="1280160"/>
                <a:gridCol w="1280160"/>
                <a:gridCol w="1280160"/>
                <a:gridCol w="1554480"/>
              </a:tblGrid>
              <a:tr h="5852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Cohort / Parameter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Leads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CPL ($)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Spend ($)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Cost/Attended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Show Rate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Close Rate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Net Revenue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Tier 1: Tech &amp; Diaspora Metros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$59,400.00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$65.78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76.0% (903)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22.0% (199)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$169,150.00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Tier 2: Affluent Suburban Corridors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2,475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$29.00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$71,775.00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$60.06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71.0% (1,195)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17.0% (203)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$152,250.00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Tier 3: Inland &amp; Heartland America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$33,000.00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$60.55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64.0% (545)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13.0% (71)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$46,150.00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1B4B"/>
                          </a:solidFill>
                        </a:defRPr>
                      </a:pPr>
                      <a:r>
                        <a:t>RECONCILED TOTAL / BLENDED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1B4B"/>
                          </a:solidFill>
                        </a:defRPr>
                      </a:pPr>
                      <a:r>
                        <a:t>5,500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1B4B"/>
                          </a:solidFill>
                        </a:defRPr>
                      </a:pPr>
                      <a:r>
                        <a:t>$29.85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1B4B"/>
                          </a:solidFill>
                        </a:defRPr>
                      </a:pPr>
                      <a:r>
                        <a:t>$164,175.00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1B4B"/>
                          </a:solidFill>
                        </a:defRPr>
                      </a:pPr>
                      <a:r>
                        <a:t>$62.12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1B4B"/>
                          </a:solidFill>
                        </a:defRPr>
                      </a:pPr>
                      <a:r>
                        <a:t>71.0% (2,643)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1B4B"/>
                          </a:solidFill>
                        </a:defRPr>
                      </a:pPr>
                      <a:r>
                        <a:t>17.9% (473)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1B4B"/>
                          </a:solidFill>
                        </a:defRPr>
                      </a:pPr>
                      <a:r>
                        <a:t>$367,550.00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MATHEMATICAL PROOF &amp; MONTHLY PACING: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Blended CPL = (0.30 x $36) + (0.45 x $29) + (0.25 x $24) = $29.85 USD | Cost Per Attended Demo = $62.12 USD.</a:t>
            </a:r>
            <a:br/>
            <a:r>
              <a:t>• Tier 3 Contribution Trade-Off: Tier 3 ROAS is 1.40x vs 1.82x break-even (-$7.6k contribution loss); included to hold $30 CPL ceiling. Dropping it lifts blended CPL to $31.80 ($131.2k spend / 4,125 leads) but improves contribution by +$7.6k (Tier 1 &amp; 2 ROAS = 2.45x). Trimming it is our first reallocation lever.</a:t>
            </a:r>
            <a:br/>
            <a:r>
              <a:t>• Monthly Pacing: November (2,500 leads @ $30.80 CPL = $77k; 50% Thanksgiving pause) | December (3,000 leads @ $29.06 CPL = $87,175).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BRIGHTCHAMPS USA • FOUNDER'S OFFICE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4. Scenario Planning, Sensitivity &amp; Break-Even Thresholds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63040"/>
                <a:gridCol w="1463040"/>
                <a:gridCol w="1463040"/>
              </a:tblGrid>
              <a:tr h="528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Downside (Stress)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 Case (Target)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Upside (Outperform)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Blended CPL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$34.33 (+15%)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$29.85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$26.87 (-10%)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Media Spend ($)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$188,801.25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$164,175.00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$147,757.50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Cost / Attended Demo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$100.69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$62.12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$50.52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Show Rate (%)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55.0% (Ghosting)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71.0%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76.0%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Enrolled 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Net Booked Revenue ($)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$193,880.00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$367,550.00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$447,525.00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First-Order Media ROAS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1.03x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2.24x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3.03x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Contribution Margin ($)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-$82,167.25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+$37,977.50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+$98,381.25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371600"/>
            <a:ext cx="35661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50876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338CA"/>
                </a:solidFill>
              </a:defRPr>
            </a:pPr>
            <a:r>
              <a:t>BREAK-EVEN THRESHOLDS (FINANCIAL GUARDRAILS)</a:t>
            </a:r>
          </a:p>
          <a:p>
            <a:pPr>
              <a:spcAft>
                <a:spcPts val="200"/>
              </a:spcAft>
            </a:pPr>
            <a:r>
              <a:rPr b="1" i="0" sz="800">
                <a:solidFill>
                  <a:srgbClr val="1E1B4B"/>
                </a:solidFill>
              </a:rPr>
              <a:t>Break-Even CPL: </a:t>
            </a:r>
            <a:r>
              <a:rPr b="0" i="0" sz="800">
                <a:solidFill>
                  <a:srgbClr val="0F172A"/>
                </a:solidFill>
              </a:rPr>
              <a:t>$36.76 (Max CPL before contribution turns negative: $367.5k x 0.55 / 5.5k).</a:t>
            </a:r>
          </a:p>
          <a:p>
            <a:pPr>
              <a:spcAft>
                <a:spcPts val="200"/>
              </a:spcAft>
            </a:pPr>
            <a:r>
              <a:rPr b="1" i="0" sz="800">
                <a:solidFill>
                  <a:srgbClr val="1E1B4B"/>
                </a:solidFill>
              </a:rPr>
              <a:t>Break-Even Gross Margin: </a:t>
            </a:r>
            <a:r>
              <a:rPr b="0" i="0" sz="800">
                <a:solidFill>
                  <a:srgbClr val="0F172A"/>
                </a:solidFill>
              </a:rPr>
              <a:t>44.7% (Minimum GM to cover $164k spend: $164k / $367.5k).</a:t>
            </a:r>
          </a:p>
          <a:p>
            <a:pPr>
              <a:spcAft>
                <a:spcPts val="200"/>
              </a:spcAft>
            </a:pPr>
            <a:r>
              <a:rPr b="1" i="0" sz="800">
                <a:solidFill>
                  <a:srgbClr val="1E1B4B"/>
                </a:solidFill>
              </a:rPr>
              <a:t>Break-Even Close Rate: </a:t>
            </a:r>
            <a:r>
              <a:rPr b="0" i="0" sz="800">
                <a:solidFill>
                  <a:srgbClr val="0F172A"/>
                </a:solidFill>
              </a:rPr>
              <a:t>14.5% (Minimum close rate required at 2,643 attended demos).</a:t>
            </a:r>
          </a:p>
          <a:p>
            <a:pPr>
              <a:spcAft>
                <a:spcPts val="200"/>
              </a:spcAft>
            </a:pPr>
            <a:r>
              <a:rPr b="1" i="0" sz="800">
                <a:solidFill>
                  <a:srgbClr val="1E1B4B"/>
                </a:solidFill>
              </a:rPr>
              <a:t>Break-Even Media ROAS: </a:t>
            </a:r>
            <a:r>
              <a:rPr b="0" i="0" sz="800">
                <a:solidFill>
                  <a:srgbClr val="0F172A"/>
                </a:solidFill>
              </a:rPr>
              <a:t>1.82x (Base 2.24x provides 23% safety buffer above break-even).</a:t>
            </a:r>
          </a:p>
          <a:p>
            <a:pPr>
              <a:spcAft>
                <a:spcPts val="400"/>
              </a:spcAft>
              <a:defRPr sz="950" b="1">
                <a:solidFill>
                  <a:srgbClr val="4338CA"/>
                </a:solidFill>
              </a:defRPr>
            </a:pPr>
            <a:r>
              <a:t>CONTRIBUTION SENSITIVITY SCENARIOS</a:t>
            </a:r>
          </a:p>
          <a:p>
            <a:pPr>
              <a:spcAft>
                <a:spcPts val="200"/>
              </a:spcAft>
            </a:pPr>
            <a:r>
              <a:rPr b="1" i="0" sz="800">
                <a:solidFill>
                  <a:srgbClr val="1E1B4B"/>
                </a:solidFill>
              </a:rPr>
              <a:t>CPL Inflation ($34.00): </a:t>
            </a:r>
            <a:r>
              <a:rPr b="0" i="0" sz="800">
                <a:solidFill>
                  <a:srgbClr val="0F172A"/>
                </a:solidFill>
              </a:rPr>
              <a:t>+$15.2k contribution remaining</a:t>
            </a:r>
          </a:p>
          <a:p>
            <a:pPr>
              <a:spcAft>
                <a:spcPts val="200"/>
              </a:spcAft>
            </a:pPr>
            <a:r>
              <a:rPr b="1" i="0" sz="800">
                <a:solidFill>
                  <a:srgbClr val="1E1B4B"/>
                </a:solidFill>
              </a:rPr>
              <a:t>CPL Stress ($36.00): </a:t>
            </a:r>
            <a:r>
              <a:rPr b="0" i="0" sz="800">
                <a:solidFill>
                  <a:srgbClr val="0F172A"/>
                </a:solidFill>
              </a:rPr>
              <a:t>+$4.2k contribution near break-even</a:t>
            </a:r>
          </a:p>
          <a:p>
            <a:pPr>
              <a:spcAft>
                <a:spcPts val="200"/>
              </a:spcAft>
            </a:pPr>
            <a:r>
              <a:rPr b="1" i="0" sz="800">
                <a:solidFill>
                  <a:srgbClr val="1E1B4B"/>
                </a:solidFill>
              </a:rPr>
              <a:t>Round 1 Show (64.8%): </a:t>
            </a:r>
            <a:r>
              <a:rPr b="0" i="0" sz="800">
                <a:solidFill>
                  <a:srgbClr val="0F172A"/>
                </a:solidFill>
              </a:rPr>
              <a:t>+$20.4k contribution maintained</a:t>
            </a:r>
          </a:p>
          <a:p>
            <a:pPr>
              <a:spcAft>
                <a:spcPts val="200"/>
              </a:spcAft>
            </a:pPr>
            <a:r>
              <a:rPr b="1" i="0" sz="800">
                <a:solidFill>
                  <a:srgbClr val="1E1B4B"/>
                </a:solidFill>
              </a:rPr>
              <a:t>Combined Headwind: </a:t>
            </a:r>
            <a:r>
              <a:rPr b="0" i="0" sz="800">
                <a:solidFill>
                  <a:srgbClr val="0F172A"/>
                </a:solidFill>
              </a:rPr>
              <a:t>-$2.4k deficit (CPL $34 + Show 64.8%)</a:t>
            </a:r>
          </a:p>
          <a:p>
            <a:pPr>
              <a:spcAft>
                <a:spcPts val="200"/>
              </a:spcAft>
            </a:pPr>
            <a:r>
              <a:rPr b="1" i="0" sz="800">
                <a:solidFill>
                  <a:srgbClr val="1E1B4B"/>
                </a:solidFill>
              </a:rPr>
              <a:t>Severe Q4 CPM Surge: </a:t>
            </a:r>
            <a:r>
              <a:rPr b="0" i="0" sz="800">
                <a:solidFill>
                  <a:srgbClr val="0F172A"/>
                </a:solidFill>
              </a:rPr>
              <a:t>-$27.7k deficit (CPL $41.79 / +40%)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BRIGHTCHAMPS USA • FOUNDER'S OFFICE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5. Pillar 2: Meta CAPI v21.0 &amp; Monotonic Expected Values P(Paid)*ARPU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2179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4338CA"/>
                </a:solidFill>
              </a:defRPr>
            </a:pPr>
            <a:r>
              <a:t>STRICTLY MONOTONIC CONVERSION VALUE CALIBRATION</a:t>
            </a:r>
          </a:p>
          <a:p>
            <a:pPr>
              <a:spcAft>
                <a:spcPts val="800"/>
              </a:spcAft>
              <a:defRPr sz="850">
                <a:solidFill>
                  <a:srgbClr val="64748B"/>
                </a:solidFill>
              </a:defRPr>
            </a:pPr>
            <a:r>
              <a:t>Values represent mathematically expected downstream revenue P(Paid | Stage) x ARPU, dispatched per event via real-time webhooks (Meta rejects requests if event_time &gt; 7 days old; no batch backlogs).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68880"/>
          <a:ext cx="5852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005840"/>
                <a:gridCol w="1005840"/>
              </a:tblGrid>
              <a:tr h="4023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Geo Cohort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DemoJoined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Purchase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Tier 1: Tech/Diaspora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$102.33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$142.12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$187.00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$850.00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Tier 2: Suburban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$61.56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$90.53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$127.50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$750.00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Tier 3: Heartland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$33.53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$54.08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$84.50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$650.00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Blended Average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$66.83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$98.72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$139.07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$777.06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371600"/>
            <a:ext cx="42062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508760"/>
            <a:ext cx="3840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4338CA"/>
                </a:solidFill>
              </a:defRPr>
            </a:pPr>
            <a:r>
              <a:t>CAMPAIGN OPTIMIZATION CONFIGURATION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Primary Target: 'Schedule': </a:t>
            </a:r>
            <a:r>
              <a:rPr b="0" i="0" sz="850">
                <a:solidFill>
                  <a:srgbClr val="0F172A"/>
                </a:solidFill>
              </a:rPr>
              <a:t>Meta delivers optimal machine learning with &gt;50 events/week/ad-set. 'Schedule' generates ~3,723 events (~108/week/ad-set), comfortably exiting learning.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Why Not 'Purchase'? </a:t>
            </a:r>
            <a:r>
              <a:rPr b="0" i="0" sz="850">
                <a:solidFill>
                  <a:srgbClr val="0F172A"/>
                </a:solidFill>
              </a:rPr>
              <a:t>473 purchases over 60 days across 4 ad sets yields only ~3.5 purchases/week/ad-set—too sparse for Meta ML. Optimizing for deeper events also raises CPL.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Value Signals for Target ROAS: </a:t>
            </a:r>
            <a:r>
              <a:rPr b="0" i="0" sz="850">
                <a:solidFill>
                  <a:srgbClr val="0F172A"/>
                </a:solidFill>
              </a:rPr>
              <a:t>'DemoAttended' and 'Purchase' stream via CAPI v21.0 as offline conversion value signals to guide Target ROAS / Value-Based Bidding.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Privacy &amp; COPPA Protection: </a:t>
            </a:r>
            <a:r>
              <a:rPr b="0" i="0" sz="850">
                <a:solidFill>
                  <a:srgbClr val="0F172A"/>
                </a:solidFill>
              </a:rPr>
              <a:t>Zero child data sent to Meta. Only SHA-256 hashed parent contact records (email, phone, state, zip) plus fbclid/fbc, fbp, client IP, and UA transmitted for deduplication.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BRIGHTCHAMPS USA • FOUNDER'S OFFICE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6. Dynamic Landing Page, Qualified Bridge &amp; Attendance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E1B4B"/>
                </a:solidFill>
              </a:defRPr>
            </a:pPr>
            <a:r>
              <a:t>QUALIFIED LEAD BRIDGE</a:t>
            </a:r>
          </a:p>
          <a:p>
            <a:pPr>
              <a:spcAft>
                <a:spcPts val="800"/>
              </a:spcAft>
              <a:defRPr sz="850" b="1">
                <a:solidFill>
                  <a:srgbClr val="4338CA"/>
                </a:solidFill>
              </a:defRPr>
            </a:pPr>
            <a:r>
              <a:t>Gating Mechanics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Qualified = OTP-verified phone + parent email + laptop access.</a:t>
            </a:r>
            <a:br/>
            <a:br/>
            <a:r>
              <a:t>• 90% Pass: 6,111 raw ($26.87 raw CPL)</a:t>
            </a:r>
            <a:br/>
            <a:r>
              <a:t>• 80% Pass: 6,875 raw ($23.88 raw CPL)</a:t>
            </a:r>
            <a:br/>
            <a:r>
              <a:t>• 70% Pass: 7,857 raw ($20.90 raw CPL)</a:t>
            </a:r>
            <a:br/>
            <a:br/>
            <a:r>
              <a:t>Aligns with US Facebook education CPL benchmarks ($22.83 - $34.85).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E1B4B"/>
                </a:solidFill>
              </a:defRPr>
            </a:pPr>
            <a:r>
              <a:t>MOCK TWILIO SMS OTP</a:t>
            </a:r>
          </a:p>
          <a:p>
            <a:pPr>
              <a:spcAft>
                <a:spcPts val="800"/>
              </a:spcAft>
              <a:defRPr sz="850" b="1">
                <a:solidFill>
                  <a:srgbClr val="4338CA"/>
                </a:solidFill>
              </a:defRPr>
            </a:pPr>
            <a:r>
              <a:t>Contact Integrity Gate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Parent phone numbers are verified via 6-digit SMS OTP (sandbox code 123456).</a:t>
            </a:r>
            <a:br/>
            <a:br/>
            <a:r>
              <a:t>Structure mirrors Twilio Verify API for drop-in live deployment, eliminating fake VOIP entries.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E1B4B"/>
                </a:solidFill>
              </a:defRPr>
            </a:pPr>
            <a:r>
              <a:t>VOUCHER A/B TEST TOGGLE</a:t>
            </a:r>
          </a:p>
          <a:p>
            <a:pPr>
              <a:spcAft>
                <a:spcPts val="800"/>
              </a:spcAft>
              <a:defRPr sz="850" b="1">
                <a:solidFill>
                  <a:srgbClr val="4338CA"/>
                </a:solidFill>
              </a:defRPr>
            </a:pPr>
            <a:r>
              <a:t>Pricing Psychology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A/B test $150 voucher ON vs OFF (Control) in Tier 1.</a:t>
            </a:r>
            <a:br/>
            <a:br/>
            <a:r>
              <a:t>Ensures holiday discounting does not undercut premium brand perception among parents already paying Kumon-level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E1B4B"/>
                </a:solidFill>
              </a:defRPr>
            </a:pPr>
            <a:r>
              <a:t>ATTENDANCE ASSURANCE</a:t>
            </a:r>
          </a:p>
          <a:p>
            <a:pPr>
              <a:spcAft>
                <a:spcPts val="800"/>
              </a:spcAft>
              <a:defRPr sz="850" b="1">
                <a:solidFill>
                  <a:srgbClr val="4338CA"/>
                </a:solidFill>
              </a:defRPr>
            </a:pPr>
            <a:r>
              <a:t>Multi-Channel Cadence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Recommends 3 slots within 48h (lag vs show rate link is correlational) + weekend slot toggle:</a:t>
            </a:r>
            <a:br/>
            <a:r>
              <a:t>• T-24h: Email invite &amp; prep guide</a:t>
            </a:r>
            <a:br/>
            <a:r>
              <a:t>• T-2h: SMS 1-click Zoom link</a:t>
            </a:r>
            <a:br/>
            <a:r>
              <a:t>• T-15m: WhatsApp check-in</a:t>
            </a:r>
            <a:br/>
            <a:r>
              <a:t>• Reschedule link prevents ghosts.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BRIGHTCHAMPS USA • FOUNDER'S OFFICE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7. Operational Capacity: Time Zone Distribution &amp; Peak Planning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85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34440"/>
                <a:gridCol w="1234440"/>
                <a:gridCol w="1234440"/>
                <a:gridCol w="1234440"/>
              </a:tblGrid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Time Zone Region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Volume Mix 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Daily Demos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Peak Local Hours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FTE Mentors Req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Eastern (EST)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25 Demos/Day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4:30 - 8:30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7 Mentors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Central (CST)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19 Demos/Day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4:30 - 8:30 PM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5 Mentors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Pacific (PST)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18 Demos/Day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4:30 - 8:30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4 Mentors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BASE EVENING POD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62 Demos/Day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46.5 demo-hours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16 Mentors (73% util)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PEAK LOAD (1.6x Surge)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Weekend Peak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~99 Demos/Day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74.4 demo-hours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1B4B"/>
                          </a:solidFill>
                        </a:defRPr>
                      </a:pPr>
                      <a:r>
                        <a:t>&gt;100% (Mitigated)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463040"/>
            <a:ext cx="35661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338CA"/>
                </a:solidFill>
              </a:defRPr>
            </a:pPr>
            <a:r>
              <a:t>CAPACITY MATH &amp; PEAK SURGE MITIGATION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Average Daily Load: </a:t>
            </a:r>
            <a:r>
              <a:rPr b="0" i="0" sz="850">
                <a:solidFill>
                  <a:srgbClr val="0F172A"/>
                </a:solidFill>
              </a:rPr>
              <a:t>3,723 demos over 60 days = ~62 demos/day (46.5 demo-hours needed).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Base Mentor Roster: </a:t>
            </a:r>
            <a:r>
              <a:rPr b="0" i="0" sz="850">
                <a:solidFill>
                  <a:srgbClr val="0F172A"/>
                </a:solidFill>
              </a:rPr>
              <a:t>16 full-time mentors working 4-hour evening shifts provide 64 mentor-hours (73% base utilization).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Peak Surge Risk (1.6x): </a:t>
            </a:r>
            <a:r>
              <a:rPr b="0" i="0" sz="850">
                <a:solidFill>
                  <a:srgbClr val="0F172A"/>
                </a:solidFill>
              </a:rPr>
              <a:t>Weekend and after-school peaks surge demand to ~74.4 hours, exceeding 100% capacity of the evening pod.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Mitigation Plan: </a:t>
            </a:r>
            <a:r>
              <a:rPr b="0" i="0" sz="850">
                <a:solidFill>
                  <a:srgbClr val="0F172A"/>
                </a:solidFill>
              </a:rPr>
              <a:t>Open Saturday/Sunday daytime blocks (10 AM - 3 PM) and maintain an on-call pool of 6 flex mentors managed by the US Shift Lead.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BRIGHTCHAMPS USA • FOUNDER'S OFFICE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8. Legal Compliance &amp; Strategic Pushbacks Appendix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338CA"/>
                </a:solidFill>
              </a:defRPr>
            </a:pPr>
            <a:r>
              <a:t>REGULATORY &amp; PRIVACY COMPLIANCE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TCPA Compliance: </a:t>
            </a:r>
            <a:r>
              <a:rPr b="0" i="0" sz="850">
                <a:solidFill>
                  <a:srgbClr val="0F172A"/>
                </a:solidFill>
              </a:rPr>
              <a:t>Mandatory explicit consent checkbox on Step 2. Disclosure stating consent is not required for purchase, with one-click opt-out ('STOP').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COPPA Compliance: </a:t>
            </a:r>
            <a:r>
              <a:rPr b="0" i="0" sz="850">
                <a:solidFill>
                  <a:srgbClr val="0F172A"/>
                </a:solidFill>
              </a:rPr>
              <a:t>Strict parent-facing intake gate with guardian attestation. Zero child PII (name, age, grade) sent to Meta CAPI; only SHA-256 hashed parent records.</a:t>
            </a:r>
          </a:p>
          <a:p>
            <a:pPr>
              <a:spcAft>
                <a:spcPts val="600"/>
              </a:spcAft>
            </a:pPr>
            <a:r>
              <a:rPr b="1" i="0" sz="850">
                <a:solidFill>
                  <a:srgbClr val="1E1B4B"/>
                </a:solidFill>
              </a:rPr>
              <a:t>Meta Minor Guidelines: </a:t>
            </a:r>
            <a:r>
              <a:rPr b="0" i="0" sz="850">
                <a:solidFill>
                  <a:srgbClr val="0F172A"/>
                </a:solidFill>
              </a:rPr>
              <a:t>Ad targeting strictly on Parents Age 30-55. Creative emphasizes parental co-learning and academic enrichment.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338CA"/>
                </a:solidFill>
              </a:defRPr>
            </a:pPr>
            <a:r>
              <a:t>STRATEGIC PUSHBACKS &amp; DEFENSES</a:t>
            </a:r>
          </a:p>
          <a:p>
            <a:pPr>
              <a:spcAft>
                <a:spcPts val="400"/>
              </a:spcAft>
            </a:pPr>
            <a:r>
              <a:rPr b="1" i="0" sz="800">
                <a:solidFill>
                  <a:srgbClr val="1E1B4B"/>
                </a:solidFill>
              </a:rPr>
              <a:t>1. At $36 CPL, is margin wiped out? </a:t>
            </a:r>
            <a:r>
              <a:rPr b="0" i="0" sz="800">
                <a:solidFill>
                  <a:srgbClr val="0F172A"/>
                </a:solidFill>
              </a:rPr>
              <a:t>Blended break-even CPL is $36.76, while Tier 1 delivers $850 Net ARPU and 2.85x ROAS (22% close). Tier 1 CPL is capped at $42, managed via cost/attended demo ($62.12 target).</a:t>
            </a:r>
          </a:p>
          <a:p>
            <a:pPr>
              <a:spcAft>
                <a:spcPts val="400"/>
              </a:spcAft>
            </a:pPr>
            <a:r>
              <a:rPr b="1" i="0" sz="800">
                <a:solidFill>
                  <a:srgbClr val="1E1B4B"/>
                </a:solidFill>
              </a:rPr>
              <a:t>2. Why 71% show rate vs Round 1 64.8%? </a:t>
            </a:r>
            <a:r>
              <a:rPr b="0" i="0" sz="800">
                <a:solidFill>
                  <a:srgbClr val="0F172A"/>
                </a:solidFill>
              </a:rPr>
              <a:t>Demos within 24-48h showed 74-78% in R1 (correlational). Even at 64.8%, contribution is positive at +$20,386, and our 62% floor triggers phone confirmation gates.</a:t>
            </a:r>
          </a:p>
          <a:p>
            <a:pPr>
              <a:spcAft>
                <a:spcPts val="400"/>
              </a:spcAft>
            </a:pPr>
            <a:r>
              <a:rPr b="1" i="0" sz="800">
                <a:solidFill>
                  <a:srgbClr val="1E1B4B"/>
                </a:solidFill>
              </a:rPr>
              <a:t>3. What is LTV and renewal rate? </a:t>
            </a:r>
            <a:r>
              <a:rPr b="0" i="0" sz="800">
                <a:solidFill>
                  <a:srgbClr val="0F172A"/>
                </a:solidFill>
              </a:rPr>
              <a:t>On a GM basis, first-order LTV/CAC is 1.23x ($777 net ARPU x 55% GM / $347 CAC). Conservative model excludes renewals; US cohort data will refine lifetime value.</a:t>
            </a:r>
          </a:p>
          <a:p>
            <a:pPr>
              <a:spcAft>
                <a:spcPts val="400"/>
              </a:spcAft>
            </a:pPr>
            <a:r>
              <a:rPr b="1" i="0" sz="800">
                <a:solidFill>
                  <a:srgbClr val="1E1B4B"/>
                </a:solidFill>
              </a:rPr>
              <a:t>4. Meta removed ethnicity; why not broad? </a:t>
            </a:r>
            <a:r>
              <a:rPr b="0" i="0" sz="800">
                <a:solidFill>
                  <a:srgbClr val="0F172A"/>
                </a:solidFill>
              </a:rPr>
              <a:t>We agree direct ethnic targeting is impossible. A 10-15% broad Advantage+ control arm will empirically test if tiers beat the algorithm on cost per attended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338CA"/>
                </a:solidFill>
              </a:defRPr>
            </a:pPr>
            <a:r>
              <a:t>BRIGHTCHAMPS USA • FOUNDER'S OFFICE STRATEGY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B4B"/>
                </a:solidFill>
              </a:defRPr>
            </a:pPr>
            <a:r>
              <a:t>9. First-10-Days Test Plan, Pre-Launch Checklist &amp; Leadership 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338CA"/>
                </a:solidFill>
              </a:defRPr>
            </a:pPr>
            <a:r>
              <a:t>FIRST-10-DAYS TEST PLAN &amp; KILL CRITERIA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Days 1-3 (Signal Smoke Test): </a:t>
            </a:r>
            <a:r>
              <a:rPr b="0" i="0" sz="850">
                <a:solidFill>
                  <a:srgbClr val="0F172A"/>
                </a:solidFill>
              </a:rPr>
              <a:t>Pilot spend ($2.5k/day) in Bay Area &amp; Dallas. Verify CAPI EMQ &gt; 8.0, raw pass rate (target 80% @ raw CPL &lt;= $23.88), and slot sync.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Days 4-7 (Hook &amp; Voucher A/B): </a:t>
            </a:r>
            <a:r>
              <a:rPr b="0" i="0" sz="850">
                <a:solidFill>
                  <a:srgbClr val="0F172A"/>
                </a:solidFill>
              </a:rPr>
              <a:t>A/B test 'Beyond Kumon' vs. 'Academic Edge' and $150 voucher vs control. Calibrate ad-set CPMs.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Days 8-10 (Throughput Audit): </a:t>
            </a:r>
            <a:r>
              <a:rPr b="0" i="0" sz="850">
                <a:solidFill>
                  <a:srgbClr val="0F172A"/>
                </a:solidFill>
              </a:rPr>
              <a:t>First 200+ completed demos. Audit show rate, cost per attended demo against $62.12 target, and initial Stripe transactions.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KILL / PIVOT CRITERIA: </a:t>
            </a:r>
            <a:r>
              <a:rPr b="0" i="0" sz="850">
                <a:solidFill>
                  <a:srgbClr val="0F172A"/>
                </a:solidFill>
              </a:rPr>
              <a:t>
• Trigger 1: If Tier 1 CPL &gt; $42 after 150 leads -&gt; Shift 50% budget to Tier 2.
• Trigger 2: If Booking Rate &lt; 55% -&gt; Activate fallback 1-step sticky form.
• Trigger 3: If Show Rate &lt; 62% -&gt; Mandate manual phone check-in at T-2h.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338CA"/>
                </a:solidFill>
              </a:defRPr>
            </a:pPr>
            <a:r>
              <a:t>PRE-LAUNCH CHECKLIST &amp; DECISIONS NEEDED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[x] Meta CAPI Pipeline: </a:t>
            </a:r>
            <a:r>
              <a:rPr b="0" i="0" sz="850">
                <a:solidFill>
                  <a:srgbClr val="0F172A"/>
                </a:solidFill>
              </a:rPr>
              <a:t>Verified with SHA-256 parent hashing &amp; monotonic event values (v21.0).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[x] Mutually Exclusive Geos: </a:t>
            </a:r>
            <a:r>
              <a:rPr b="0" i="0" sz="850">
                <a:solidFill>
                  <a:srgbClr val="0F172A"/>
                </a:solidFill>
              </a:rPr>
              <a:t>Uploaded to Meta Business Manager with Advantage+ control arm.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[x] Landing Page Intake: </a:t>
            </a:r>
            <a:r>
              <a:rPr b="0" i="0" sz="850">
                <a:solidFill>
                  <a:srgbClr val="0F172A"/>
                </a:solidFill>
              </a:rPr>
              <a:t>Laptop access question, SMS OTP mock, guardian attestation &amp; TCPA live.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1E1B4B"/>
                </a:solidFill>
              </a:rPr>
              <a:t>[x] Campaign Optimization: </a:t>
            </a:r>
            <a:r>
              <a:rPr b="0" i="0" sz="850">
                <a:solidFill>
                  <a:srgbClr val="0F172A"/>
                </a:solidFill>
              </a:rPr>
              <a:t>Configured on 'Schedule' with 'Purchase' as offline value signal.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4338CA"/>
                </a:solidFill>
              </a:rPr>
              <a:t>DECISION 1: Budget Approval: </a:t>
            </a:r>
            <a:r>
              <a:rPr b="0" i="0" sz="850">
                <a:solidFill>
                  <a:srgbClr val="0F172A"/>
                </a:solidFill>
              </a:rPr>
              <a:t>Authorize $164,175 media pacing ($77k Nov / $87.2k Dec).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4338CA"/>
                </a:solidFill>
              </a:rPr>
              <a:t>DECISION 2: Counselor Assignment: </a:t>
            </a:r>
            <a:r>
              <a:rPr b="0" i="0" sz="850">
                <a:solidFill>
                  <a:srgbClr val="0F172A"/>
                </a:solidFill>
              </a:rPr>
              <a:t>Confirm roster of 16 dedicated US-shift mentors + 6 flex pool.</a:t>
            </a:r>
          </a:p>
          <a:p>
            <a:pPr>
              <a:spcAft>
                <a:spcPts val="400"/>
              </a:spcAft>
            </a:pPr>
            <a:r>
              <a:rPr b="1" i="0" sz="850">
                <a:solidFill>
                  <a:srgbClr val="4338CA"/>
                </a:solidFill>
              </a:rPr>
              <a:t>DECISION 3: Holiday Voucher: </a:t>
            </a:r>
            <a:r>
              <a:rPr b="0" i="0" sz="850">
                <a:solidFill>
                  <a:srgbClr val="0F172A"/>
                </a:solidFill>
              </a:rPr>
              <a:t>Approve $150 tuition voucher A/B test for BFCM.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