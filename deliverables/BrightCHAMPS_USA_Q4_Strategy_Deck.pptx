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F59E0B"/>
                </a:solidFill>
              </a:defRPr>
            </a:pPr>
            <a:r>
              <a:t>BRIGHTCHAMPS USA • Q4 2026 EXPANSION MANDATE</a:t>
            </a:r>
          </a:p>
          <a:p>
            <a:pPr>
              <a:spcAft>
                <a:spcPts val="1800"/>
              </a:spcAft>
              <a:defRPr sz="3200" b="1">
                <a:solidFill>
                  <a:srgbClr val="FFFFFF"/>
                </a:solidFill>
              </a:defRPr>
            </a:pPr>
            <a:r>
              <a:t>Scaling Inbound Volume to 5,500 Leads</a:t>
            </a:r>
            <a:br/>
            <a:r>
              <a:t>at $29.85 CPL via Geo-Marketing &amp; Product-Tech</a:t>
            </a:r>
          </a:p>
          <a:p>
            <a:pPr>
              <a:spcAft>
                <a:spcPts val="2800"/>
              </a:spcAft>
              <a:defRPr sz="1350">
                <a:solidFill>
                  <a:srgbClr val="C7D2FE"/>
                </a:solidFill>
              </a:defRPr>
            </a:pPr>
            <a:r>
              <a:t>A Dual-Pillar Framework Combining Mutually Exclusive Geo-Targeting with Monotonic Meta CAPI &amp; Instant Calendar Booking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Stakeholder: Yatharth Sahoo (Senior Lead, Founder's Office) | Author: Bharanee B (AI Associate, Founder's Office)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FOUNDER'S OFFICE EXECUTIVE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Executive Strategy Canvas: Single-Source-of-Truth Scorecard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71323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67665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338CA"/>
                </a:solidFill>
              </a:defRPr>
            </a:pPr>
            <a:r>
              <a:t>RECONCILED CORE SCORECARD (MODEL SINGLE SOURCE OF TRUTH)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Inbound Leads: </a:t>
            </a:r>
            <a:r>
              <a:rPr b="0" i="0" sz="950">
                <a:solidFill>
                  <a:srgbClr val="0F172A"/>
                </a:solidFill>
              </a:rPr>
              <a:t>5,500 Leads (Nov: 2,500 | Dec: 3,000)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Blended CPL: </a:t>
            </a:r>
            <a:r>
              <a:rPr b="0" i="0" sz="950">
                <a:solidFill>
                  <a:srgbClr val="0F172A"/>
                </a:solidFill>
              </a:rPr>
              <a:t>$29.85 USD (Under $30.00 ceiling by -$0.15 buffer)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Total Media Spend: </a:t>
            </a:r>
            <a:r>
              <a:rPr b="0" i="0" sz="950">
                <a:solidFill>
                  <a:srgbClr val="0F172A"/>
                </a:solidFill>
              </a:rPr>
              <a:t>$164,175.00 USD (Under $165,000.00 ceiling by -$825.00)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Demos Scheduled: </a:t>
            </a:r>
            <a:r>
              <a:rPr b="0" i="0" sz="950">
                <a:solidFill>
                  <a:srgbClr val="0F172A"/>
                </a:solidFill>
              </a:rPr>
              <a:t>3,723 Demos (67.7% booking rate via dynamic intake)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Demos Attended: </a:t>
            </a:r>
            <a:r>
              <a:rPr b="0" i="0" sz="950">
                <a:solidFill>
                  <a:srgbClr val="0F172A"/>
                </a:solidFill>
              </a:rPr>
              <a:t>2,643 Demos (71.0% show rate via instant calendar lock)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Paid Students: </a:t>
            </a:r>
            <a:r>
              <a:rPr b="0" i="0" sz="950">
                <a:solidFill>
                  <a:srgbClr val="0F172A"/>
                </a:solidFill>
              </a:rPr>
              <a:t>473 Students (17.9% demo close | 8.60% full funnel)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Net Booked Revenue: </a:t>
            </a:r>
            <a:r>
              <a:rPr b="0" i="0" sz="950">
                <a:solidFill>
                  <a:srgbClr val="0F172A"/>
                </a:solidFill>
              </a:rPr>
              <a:t>$367,550.00 USD (Exact sum of 3 tiers)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Revenue Less Spend: </a:t>
            </a:r>
            <a:r>
              <a:rPr b="0" i="0" sz="950">
                <a:solidFill>
                  <a:srgbClr val="0F172A"/>
                </a:solidFill>
              </a:rPr>
              <a:t>$203,375.00 USD (Net margin after digital media)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Assumed Gross Margin: </a:t>
            </a:r>
            <a:r>
              <a:rPr b="0" i="0" sz="950">
                <a:solidFill>
                  <a:srgbClr val="0F172A"/>
                </a:solidFill>
              </a:rPr>
              <a:t>55.0% (Assumed: 40% mentor payout + 5% platform infra)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Contribution Margin: </a:t>
            </a:r>
            <a:r>
              <a:rPr b="0" i="0" sz="950">
                <a:solidFill>
                  <a:srgbClr val="0F172A"/>
                </a:solidFill>
              </a:rPr>
              <a:t>$37,977.50 USD (Profit after media &amp; instructional delivery)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First-Order ROAS: </a:t>
            </a:r>
            <a:r>
              <a:rPr b="0" i="0" sz="950">
                <a:solidFill>
                  <a:srgbClr val="0F172A"/>
                </a:solidFill>
              </a:rPr>
              <a:t>2.24x (Substantially exceeds 1.82x break-even ROAS)</a:t>
            </a:r>
          </a:p>
          <a:p>
            <a:pPr>
              <a:spcAft>
                <a:spcPts val="400"/>
              </a:spcAft>
            </a:pPr>
            <a:r>
              <a:rPr b="1" i="0" sz="950">
                <a:solidFill>
                  <a:srgbClr val="1E1B4B"/>
                </a:solidFill>
              </a:rPr>
              <a:t>Blended CAC: </a:t>
            </a:r>
            <a:r>
              <a:rPr b="0" i="0" sz="950">
                <a:solidFill>
                  <a:srgbClr val="0F172A"/>
                </a:solidFill>
              </a:rPr>
              <a:t>$347.09 USD per enrolled student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50876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59E0B"/>
                </a:solidFill>
              </a:defRPr>
            </a:pPr>
            <a:r>
              <a:t>TOP 2 STRATEGIC RISKS &amp; MITIGATIONS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1. Q4 Ad Auction Inflation: </a:t>
            </a:r>
            <a:r>
              <a:rPr b="0" i="0" sz="850">
                <a:solidFill>
                  <a:srgbClr val="0F172A"/>
                </a:solidFill>
              </a:rPr>
              <a:t>Retail CPMs surge 25%+ during BFCM. Mitigate via front-loaded Nov 1-18 pacing, strict $42 bid caps, and gift positioning.</a:t>
            </a:r>
          </a:p>
          <a:p>
            <a:r>
              <a:rPr b="1" i="0" sz="850">
                <a:solidFill>
                  <a:srgbClr val="1E1B4B"/>
                </a:solidFill>
              </a:rPr>
              <a:t>2. Demo Timezone Bottlenecks: </a:t>
            </a:r>
            <a:r>
              <a:rPr b="0" i="0" sz="850">
                <a:solidFill>
                  <a:srgbClr val="0F172A"/>
                </a:solidFill>
              </a:rPr>
              <a:t>62 demos/day clustered in 4:30-8:30 PM local slots. Mitigate with dedicated 16-mentor US pod across EST/CST/PST.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840480"/>
            <a:ext cx="3383280" cy="246888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3977639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4338CA"/>
                </a:solidFill>
              </a:defRPr>
            </a:pPr>
            <a:r>
              <a:t>THE IMMEDIATE ASK FOR LEADERSHIP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1. Budget Approval: Authorize $164,175 media pacing ($74.6k Nov / $89.5k Dec).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2. Counselor Pod: Roster 16 dedicated US-shift mentors for peak 4:30-8:30 PM slots.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3. Holiday Voucher: Authorize $150 Black Friday/Holiday scholarship grant.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1. The Core Challenge: The Volume vs. Quality vs. Cost Trilemma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1E1B4B"/>
                </a:solidFill>
              </a:defRPr>
            </a:pPr>
            <a:r>
              <a:t>TRAP 1: THE CHEAP LEAD TRAP</a:t>
            </a:r>
          </a:p>
          <a:p>
            <a:pPr>
              <a:spcAft>
                <a:spcPts val="1000"/>
              </a:spcAft>
              <a:defRPr sz="1800" b="1">
                <a:solidFill>
                  <a:srgbClr val="1E1B4B"/>
                </a:solidFill>
              </a:defRPr>
            </a:pPr>
            <a:r>
              <a:t>$15 - $20 CPL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Meta lead forms optimized on volume attract low-intent clickers, grandparents with wrong numbers, or kids without laptops.</a:t>
            </a:r>
            <a:br/>
            <a:br/>
            <a:r>
              <a:t>Result: Demo show rate collapses to &lt;30%, burning sales counselor payroll and producing zero enrolled revenue.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1E1B4B"/>
                </a:solidFill>
              </a:defRPr>
            </a:pPr>
            <a:r>
              <a:t>TRAP 2: THE BOUTIQUE TRAP</a:t>
            </a:r>
          </a:p>
          <a:p>
            <a:pPr>
              <a:spcAft>
                <a:spcPts val="1000"/>
              </a:spcAft>
              <a:defRPr sz="1800" b="1">
                <a:solidFill>
                  <a:srgbClr val="1E1B4B"/>
                </a:solidFill>
              </a:defRPr>
            </a:pPr>
            <a:r>
              <a:t>$45 - $60 CPL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Hyper-narrow targeting on Silicon Valley engineers exhausts audience frequency rapidly and inflates auction CPMs.</a:t>
            </a:r>
            <a:br/>
            <a:br/>
            <a:r>
              <a:t>Result: High trial conversion (25%+), but volume caps at &lt;800 leads and blows past the $30 CPL mandate ceiling.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1E1B4B"/>
                </a:solidFill>
              </a:defRPr>
            </a:pPr>
            <a:r>
              <a:t>THE FOUNDER'S OFFICE SOLUTION</a:t>
            </a:r>
          </a:p>
          <a:p>
            <a:pPr>
              <a:spcAft>
                <a:spcPts val="1000"/>
              </a:spcAft>
              <a:defRPr sz="1800" b="1">
                <a:solidFill>
                  <a:srgbClr val="4338CA"/>
                </a:solidFill>
              </a:defRPr>
            </a:pPr>
            <a:r>
              <a:t>$29.85 BLENDED CPL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 Dual-Pillar Architecture:</a:t>
            </a:r>
            <a:br/>
            <a:r>
              <a:t>• Mutually Exclusive 3-Tier Geo Matrix balancing $36 tech hubs with $24 heartland volume.</a:t>
            </a:r>
            <a:br/>
            <a:r>
              <a:t>• Server-Side Meta CAPI with monotonic expected values + instant calendar booking (&lt;=48h lag).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2. Pillar 1: Compliant Meta Targeting &amp; Mutually Exclusive Geos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4338CA"/>
                </a:solidFill>
              </a:defRPr>
            </a:pPr>
            <a:r>
              <a:t>HOW DIASPORA &amp; STEM TARGETING IS ACHIEVED ON META</a:t>
            </a:r>
          </a:p>
          <a:p>
            <a:pPr>
              <a:spcAft>
                <a:spcPts val="1000"/>
              </a:spcAft>
              <a:defRPr sz="900" i="1">
                <a:solidFill>
                  <a:srgbClr val="64748B"/>
                </a:solidFill>
              </a:defRPr>
            </a:pPr>
            <a:r>
              <a:t>Important: Ethnic affinity targeting is prohibited and unavailable on Meta. We achieve precision targeting via 3 compliant operational proxies:</a:t>
            </a:r>
          </a:p>
          <a:p>
            <a:pPr>
              <a:spcAft>
                <a:spcPts val="800"/>
              </a:spcAft>
            </a:pPr>
            <a:r>
              <a:rPr b="1" i="0" sz="950">
                <a:solidFill>
                  <a:srgbClr val="1E1B4B"/>
                </a:solidFill>
              </a:rPr>
              <a:t>1. High-Density Zip-Code Geo Clusters: </a:t>
            </a:r>
            <a:r>
              <a:rPr b="0" i="0" sz="950">
                <a:solidFill>
                  <a:srgbClr val="0F172A"/>
                </a:solidFill>
              </a:rPr>
              <a:t>Targeting premier STEM school districts with high concentrations of engineering families (Fremont 94539, Sunnyvale 94087, Frisco 75034, Edison 08820, Bellevue 98052).</a:t>
            </a:r>
          </a:p>
          <a:p>
            <a:pPr>
              <a:spcAft>
                <a:spcPts val="800"/>
              </a:spcAft>
            </a:pPr>
            <a:r>
              <a:rPr b="1" i="0" sz="950">
                <a:solidFill>
                  <a:srgbClr val="1E1B4B"/>
                </a:solidFill>
              </a:rPr>
              <a:t>2. Academic &amp; Cultural Interest Proxies: </a:t>
            </a:r>
            <a:r>
              <a:rPr b="0" i="0" sz="950">
                <a:solidFill>
                  <a:srgbClr val="0F172A"/>
                </a:solidFill>
              </a:rPr>
              <a:t>Parents (30-55) indexing heavily on Kumon, Russian School of Math (RSM), Mathnasium, Singapore Math, USACO, First Robotics, and Chess.com.</a:t>
            </a:r>
          </a:p>
          <a:p>
            <a:pPr>
              <a:spcAft>
                <a:spcPts val="800"/>
              </a:spcAft>
            </a:pPr>
            <a:r>
              <a:rPr b="1" i="0" sz="950">
                <a:solidFill>
                  <a:srgbClr val="1E1B4B"/>
                </a:solidFill>
              </a:rPr>
              <a:t>3. 1% Lookalikes from US Customer Lists: </a:t>
            </a:r>
            <a:r>
              <a:rPr b="0" i="0" sz="950">
                <a:solidFill>
                  <a:srgbClr val="0F172A"/>
                </a:solidFill>
              </a:rPr>
              <a:t>Ingesting historical US paid customer seed lists (SHA-256 hashed parent emails/phones) to train Meta lookalikes.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4338CA"/>
                </a:solidFill>
              </a:defRPr>
            </a:pPr>
            <a:r>
              <a:t>MUTUALLY EXCLUSIVE 3-TIER GEOGRAPHIC MATRIX</a:t>
            </a:r>
          </a:p>
          <a:p>
            <a:pPr>
              <a:spcAft>
                <a:spcPts val="200"/>
              </a:spcAft>
            </a:pPr>
            <a:r>
              <a:rPr b="1" i="0" sz="950">
                <a:solidFill>
                  <a:srgbClr val="1E1B4B"/>
                </a:solidFill>
              </a:rPr>
              <a:t>Tier 1: Core Tech &amp; Primary Metros (30% Vol | $36 CPL)</a:t>
            </a:r>
          </a:p>
          <a:p>
            <a:pPr>
              <a:spcAft>
                <a:spcPts val="600"/>
              </a:spcAft>
            </a:pPr>
            <a:r>
              <a:rPr b="0" i="0" sz="850">
                <a:solidFill>
                  <a:srgbClr val="0F172A"/>
                </a:solidFill>
              </a:rPr>
              <a:t>• SF Bay Area: Fremont, Sunnyvale, Cupertino, Dublin, San Jose
• Seattle Belt: Bellevue, Redmond, Kirkland
• DFW Tech Wedge: Frisco, Plano, Irving/Coppell
• NJ/NYC Metro: Edison, Iselin, Jersey City
• Austin Hub: Austin, Round Rock</a:t>
            </a:r>
          </a:p>
          <a:p>
            <a:pPr>
              <a:spcAft>
                <a:spcPts val="200"/>
              </a:spcAft>
            </a:pPr>
            <a:r>
              <a:rPr b="1" i="0" sz="950">
                <a:solidFill>
                  <a:srgbClr val="1E1B4B"/>
                </a:solidFill>
              </a:rPr>
              <a:t>Tier 2: Affluent Suburban Corridors (45% Vol | $29 CPL)</a:t>
            </a:r>
          </a:p>
          <a:p>
            <a:pPr>
              <a:spcAft>
                <a:spcPts val="600"/>
              </a:spcAft>
            </a:pPr>
            <a:r>
              <a:rPr b="0" i="0" sz="850">
                <a:solidFill>
                  <a:srgbClr val="0F172A"/>
                </a:solidFill>
              </a:rPr>
              <a:t>• North Atlanta: Alpharetta, Johns Creek, Milton
• RTP NC: Cary, Morrisville, Apex
• Chicago Suburbs: Naperville, Aurora, Schaumburg
• Northern VA: Fairfax, Ashburn, McLean
• Orange County CA: Irvine, San Diego North
• Houston Suburbs: Sugar Land, Katy | Boston: Lexington, Newton</a:t>
            </a:r>
          </a:p>
          <a:p>
            <a:pPr>
              <a:spcAft>
                <a:spcPts val="200"/>
              </a:spcAft>
            </a:pPr>
            <a:r>
              <a:rPr b="1" i="0" sz="950">
                <a:solidFill>
                  <a:srgbClr val="1E1B4B"/>
                </a:solidFill>
              </a:rPr>
              <a:t>Tier 3: Inland &amp; Heartland America (25% Vol | $24 CPL)</a:t>
            </a:r>
          </a:p>
          <a:p>
            <a:pPr>
              <a:spcAft>
                <a:spcPts val="600"/>
              </a:spcAft>
            </a:pPr>
            <a:r>
              <a:rPr b="0" i="0" sz="850">
                <a:solidFill>
                  <a:srgbClr val="0F172A"/>
                </a:solidFill>
              </a:rPr>
              <a:t>• Non-metro Sunbelt, Ohio, Indiana, Michigan, Missouri, Kansas, Iowa, Wisconsin, Inland Pennsylvania.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3. Funnel Hypotheses to Validate: Operational Tier Economics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98480" cy="5486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B4B"/>
                </a:solidFill>
              </a:defRPr>
            </a:pPr>
            <a:r>
              <a:t>EMPIRICAL HYPOTHESES TO VALIDATE: All tier CPLs and conversion rates represent testable operational hypotheses monitored during Days 1-10.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643616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07008"/>
                <a:gridCol w="1207008"/>
                <a:gridCol w="1207008"/>
                <a:gridCol w="1207008"/>
                <a:gridCol w="1207008"/>
                <a:gridCol w="1207008"/>
                <a:gridCol w="1207008"/>
              </a:tblGrid>
              <a:tr h="585216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Cohort / Parameter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Leads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CPL ($)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Spend ($)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Sched Rate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Show Rate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Close Rate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Net Revenue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Tier 1: Tech &amp; Diaspora Metros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1,650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$59,400.00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72.0% (1,188)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76.0% (903)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22.0% (199)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$169,150.00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Tier 2: Affluent Suburban Corridors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2,475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$29.00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$71,775.00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68.0% (1,683)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71.0% (1,195)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17.0% (203)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$152,250.00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Tier 3: Inland &amp; Heartland America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1,375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$33,000.00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62.0% (852)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64.0% (545)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13.0% (71)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$46,150.00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RECONCILED TOTAL / BLENDED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5,500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$29.85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$164,175.00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67.7% (3,723)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71.0% (2,643)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17.9% (473)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$367,550.00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120640"/>
            <a:ext cx="106984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120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MATHEMATICAL PROOF OF MANDATE RECONCILIATION: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Blended CPL = (0.30 x $36.00) + (0.45 x $29.00) + (0.25 x $24.00) = $10.80 + $13.05 + $6.00 = $29.85 USD (Under $30.00 mandate).</a:t>
            </a:r>
            <a:br/>
            <a:r>
              <a:t>• Exact Net Revenue Sum = $169,150 + $152,250 + $46,150 = $367,550.00 USD (Gross list $414,850 - $47,300 promo voucher dilution).</a:t>
            </a:r>
            <a:br/>
            <a:r>
              <a:t>• Revenue Less Media Spend = $367,550 - $164,175 = $203,375.00 USD | Blended CAC = $347.09 per paid student.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4. Scenario Planning, Sensitivity &amp; Break-Even ROAS Proof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6858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463040"/>
                <a:gridCol w="1463040"/>
              </a:tblGrid>
              <a:tr h="528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Metric / Parameter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Downside (Stress)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 Case (Target)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Upside (Outperform)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Blended CPL ($)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$34.33 (+15%)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$29.85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$26.87 (-10%)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Media Spend ($)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$188,801.25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$164,175.00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$147,757.50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Show Rate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55.0% (Ghosting)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71.0%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76.0%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Enrolled Students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262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473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585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Blended CAC ($)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$720.62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$347.09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$252.58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Net Revenue ($)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$193,880.00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$367,550.00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$447,525.00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First-Order ROAS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1.03x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2.24x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3.03x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Contrib Margin ($)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-$82,167.25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+$37,977.50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+$98,381.25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863840" y="1371600"/>
            <a:ext cx="35661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50876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4338CA"/>
                </a:solidFill>
              </a:defRPr>
            </a:pPr>
            <a:r>
              <a:t>BREAK-EVEN ROAS AT 55% GROSS MARGIN</a:t>
            </a:r>
          </a:p>
          <a:p>
            <a:pPr>
              <a:spcAft>
                <a:spcPts val="1000"/>
              </a:spcAft>
              <a:defRPr sz="850">
                <a:solidFill>
                  <a:srgbClr val="0F172A"/>
                </a:solidFill>
              </a:defRPr>
            </a:pPr>
            <a:r>
              <a:t>Assumed Gross Margin: 55.0%</a:t>
            </a:r>
            <a:br/>
            <a:r>
              <a:t>(40% mentor payout + 5% platform SaaS)</a:t>
            </a:r>
            <a:br/>
            <a:br/>
            <a:r>
              <a:t>Break-Even Formula:</a:t>
            </a:r>
            <a:br/>
            <a:r>
              <a:t>ROAS = 1 / Gross Margin = 1 / 0.55 = 1.82x</a:t>
            </a:r>
            <a:br/>
            <a:br/>
            <a:r>
              <a:t>Base Case Delivers 2.24x ROAS, securing $37,977.50 in net contribution profit from Day 1.</a:t>
            </a:r>
          </a:p>
          <a:p>
            <a:pPr>
              <a:spcAft>
                <a:spcPts val="400"/>
              </a:spcAft>
              <a:defRPr sz="1000" b="1">
                <a:solidFill>
                  <a:srgbClr val="4338CA"/>
                </a:solidFill>
              </a:defRPr>
            </a:pPr>
            <a:r>
              <a:t>VOLUME ALLOCATION SENSITIVITY</a:t>
            </a:r>
          </a:p>
          <a:p>
            <a:pPr>
              <a:spcAft>
                <a:spcPts val="300"/>
              </a:spcAft>
            </a:pPr>
            <a:r>
              <a:rPr b="1" i="0" sz="800">
                <a:solidFill>
                  <a:srgbClr val="1E1B4B"/>
                </a:solidFill>
              </a:rPr>
              <a:t>Tech Heavy (40/40/20): </a:t>
            </a:r>
            <a:r>
              <a:rPr b="0" i="0" sz="800">
                <a:solidFill>
                  <a:srgbClr val="0F172A"/>
                </a:solidFill>
              </a:rPr>
              <a:t>CPL $30.80 | Paid: 503 | Net Rev: $398k | ROAS 2.35x</a:t>
            </a:r>
          </a:p>
          <a:p>
            <a:pPr>
              <a:spcAft>
                <a:spcPts val="300"/>
              </a:spcAft>
            </a:pPr>
            <a:r>
              <a:rPr b="1" i="0" sz="800">
                <a:solidFill>
                  <a:srgbClr val="1E1B4B"/>
                </a:solidFill>
              </a:rPr>
              <a:t>Balanced Base (30/45/25): </a:t>
            </a:r>
            <a:r>
              <a:rPr b="0" i="0" sz="800">
                <a:solidFill>
                  <a:srgbClr val="0F172A"/>
                </a:solidFill>
              </a:rPr>
              <a:t>CPL $29.85 | Paid: 473 | Net Rev: $368k | ROAS 2.24x</a:t>
            </a:r>
          </a:p>
          <a:p>
            <a:pPr>
              <a:spcAft>
                <a:spcPts val="300"/>
              </a:spcAft>
            </a:pPr>
            <a:r>
              <a:rPr b="1" i="0" sz="800">
                <a:solidFill>
                  <a:srgbClr val="1E1B4B"/>
                </a:solidFill>
              </a:rPr>
              <a:t>Heartland Heavy (20/45/35): </a:t>
            </a:r>
            <a:r>
              <a:rPr b="0" i="0" sz="800">
                <a:solidFill>
                  <a:srgbClr val="0F172A"/>
                </a:solidFill>
              </a:rPr>
              <a:t>CPL $28.65 | Paid: 434 | Net Rev: $329k | ROAS 2.09x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5. Pillar 2: Meta CAPI &amp; Monotonic Expected Values P(Paid)*ARPU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2179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5852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4338CA"/>
                </a:solidFill>
              </a:defRPr>
            </a:pPr>
            <a:r>
              <a:t>STRICTLY MONOTONIC CONVERSION VALUE CALIBRATION</a:t>
            </a:r>
          </a:p>
          <a:p>
            <a:pPr>
              <a:spcAft>
                <a:spcPts val="1000"/>
              </a:spcAft>
              <a:defRPr sz="850">
                <a:solidFill>
                  <a:srgbClr val="64748B"/>
                </a:solidFill>
              </a:defRPr>
            </a:pPr>
            <a:r>
              <a:t>Values represent mathematically expected downstream revenue P(Paid | Stage) x ARPU. Values strictly ascend down the funnel: Lead &lt; Schedule &lt; DemoAttended &lt; Purchase.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68880"/>
          <a:ext cx="5852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005840"/>
              </a:tblGrid>
              <a:tr h="4023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Geo Cohort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Lead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Schedule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DemoJoined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Purchase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Tier 1: Tech/Diaspora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$102.33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$142.12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$187.00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$850.00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Tier 2: Suburban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$61.56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$90.53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$127.50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$750.00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Tier 3: Heartland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$33.53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$54.08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$84.50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$650.00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Blended Average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$66.83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$98.72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$139.07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$777.06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371600"/>
            <a:ext cx="42062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508760"/>
            <a:ext cx="3840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4338CA"/>
                </a:solidFill>
              </a:defRPr>
            </a:pPr>
            <a:r>
              <a:t>CAMPAIGN OPTIMIZATION CONFIGURATION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Primary Target: 'Schedule': </a:t>
            </a:r>
            <a:r>
              <a:rPr b="0" i="0" sz="850">
                <a:solidFill>
                  <a:srgbClr val="0F172A"/>
                </a:solidFill>
              </a:rPr>
              <a:t>Meta delivers optimal machine learning performance with &gt;50 events/week/ad-set. 'Schedule' generates ~3,723 events (~108/week/ad-set), comfortably exiting learning.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Why Not 'Purchase'? </a:t>
            </a:r>
            <a:r>
              <a:rPr b="0" i="0" sz="850">
                <a:solidFill>
                  <a:srgbClr val="0F172A"/>
                </a:solidFill>
              </a:rPr>
              <a:t>473 purchases over 60 days across 4 ad sets yields only ~3.5 purchases/week/ad-set—too sparse for Meta ML.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Value Signals: </a:t>
            </a:r>
            <a:r>
              <a:rPr b="0" i="0" sz="850">
                <a:solidFill>
                  <a:srgbClr val="0F172A"/>
                </a:solidFill>
              </a:rPr>
              <a:t>'DemoAttended' and 'Purchase' stream via CAPI as offline conversion value signals to guide Target ROAS / Value-Based Bidding.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COPPA Privacy Guard: </a:t>
            </a:r>
            <a:r>
              <a:rPr b="0" i="0" sz="850">
                <a:solidFill>
                  <a:srgbClr val="0F172A"/>
                </a:solidFill>
              </a:rPr>
              <a:t>Zero minor data sent to Meta. Only SHA-256 hashed parent contact records (email, phone, state, zip) transmitted.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6. Dynamic Landing Page, SMS Verification &amp; Reminder Cadence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E1B4B"/>
                </a:solidFill>
              </a:defRPr>
            </a:pPr>
            <a:r>
              <a:t>SELF-REPORTED LAPTOP READINESS</a:t>
            </a:r>
          </a:p>
          <a:p>
            <a:pPr>
              <a:spcAft>
                <a:spcPts val="800"/>
              </a:spcAft>
              <a:defRPr sz="850" b="1">
                <a:solidFill>
                  <a:srgbClr val="4338CA"/>
                </a:solidFill>
              </a:defRPr>
            </a:pPr>
            <a:r>
              <a:t>Eliminates Device Penalty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Replaces mobile form penalty with self-reported field:</a:t>
            </a:r>
            <a:br/>
            <a:br/>
            <a:r>
              <a:t>'Does your child have access to a laptop or desktop computer for the trial?'</a:t>
            </a:r>
            <a:br/>
            <a:br/>
            <a:r>
              <a:t>Parents fill forms on smartphones while retaining home PC access.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E1B4B"/>
                </a:solidFill>
              </a:defRPr>
            </a:pPr>
            <a:r>
              <a:t>MOCK TWILIO SMS OTP</a:t>
            </a:r>
          </a:p>
          <a:p>
            <a:pPr>
              <a:spcAft>
                <a:spcPts val="800"/>
              </a:spcAft>
              <a:defRPr sz="850" b="1">
                <a:solidFill>
                  <a:srgbClr val="4338CA"/>
                </a:solidFill>
              </a:defRPr>
            </a:pPr>
            <a:r>
              <a:t>Contact Integrity Gate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Parent phone numbers are verified via 6-digit SMS OTP (sandbox code 123456).</a:t>
            </a:r>
            <a:br/>
            <a:br/>
            <a:r>
              <a:t>Structure mirrors Twilio Verify API for drop-in live deployment, eliminating fake VOIP entries.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E1B4B"/>
                </a:solidFill>
              </a:defRPr>
            </a:pPr>
            <a:r>
              <a:t>TCPA CONSENT CHECKBOX</a:t>
            </a:r>
          </a:p>
          <a:p>
            <a:pPr>
              <a:spcAft>
                <a:spcPts val="800"/>
              </a:spcAft>
              <a:defRPr sz="850" b="1">
                <a:solidFill>
                  <a:srgbClr val="4338CA"/>
                </a:solidFill>
              </a:defRPr>
            </a:pPr>
            <a:r>
              <a:t>Legal Telephony Compliance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Explicit opt-in checkbox consenting to reminder calls, SMS, and WhatsApp alerts.</a:t>
            </a:r>
            <a:br/>
            <a:br/>
            <a:r>
              <a:t>Clear disclosure that consent is not required for purchase, with opt-out mechanisms.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E1B4B"/>
                </a:solidFill>
              </a:defRPr>
            </a:pPr>
            <a:r>
              <a:t>ATTENDANCE ASSURANCE</a:t>
            </a:r>
          </a:p>
          <a:p>
            <a:pPr>
              <a:spcAft>
                <a:spcPts val="800"/>
              </a:spcAft>
              <a:defRPr sz="850" b="1">
                <a:solidFill>
                  <a:srgbClr val="4338CA"/>
                </a:solidFill>
              </a:defRPr>
            </a:pPr>
            <a:r>
              <a:t>Multi-Channel Cadence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Confirmation screen establishes automated reminder schedule:</a:t>
            </a:r>
            <a:br/>
            <a:r>
              <a:t>• T-24h: Calendar Invite via Email</a:t>
            </a:r>
            <a:br/>
            <a:r>
              <a:t>• T-2h: 1-Click Zoom Link via SMS</a:t>
            </a:r>
            <a:br/>
            <a:r>
              <a:t>• T-15m: Room Open Alert via WhatsApp</a:t>
            </a:r>
            <a:br/>
            <a:r>
              <a:t>• Reschedule button eliminates ghosts.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7. Operational Capacity: Demo Distribution by US Time Zone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234440"/>
                <a:gridCol w="1234440"/>
                <a:gridCol w="1234440"/>
                <a:gridCol w="1234440"/>
              </a:tblGrid>
              <a:tr h="585216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Time Zone Region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Volume Mix 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Daily Demos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Peak Local Hours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FTE Mentors Req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Eastern (EST)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25 Demos/Day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4:30 - 8:30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 Mentors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Central (CST)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19 Demos/Day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4:30 - 8:30 PM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5 Mentors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Pacific (PST)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18 Demos/Day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4:30 - 8:30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 Mentors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TOTAL DEDICATED POD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62 Demos/Day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School-day Evenings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16 Mentors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863840" y="1463040"/>
            <a:ext cx="35661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64592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4338CA"/>
                </a:solidFill>
              </a:defRPr>
            </a:pPr>
            <a:r>
              <a:t>SALES COUNSELOR ROSTER &amp; LOGISTICS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Daily Volume: </a:t>
            </a:r>
            <a:r>
              <a:rPr b="0" i="0" sz="850">
                <a:solidFill>
                  <a:srgbClr val="0F172A"/>
                </a:solidFill>
              </a:rPr>
              <a:t>3,723 demos over 60 days requires conducting ~62 live 45-minute sessions daily.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Capacity Math: </a:t>
            </a:r>
            <a:r>
              <a:rPr b="0" i="0" sz="850">
                <a:solidFill>
                  <a:srgbClr val="0F172A"/>
                </a:solidFill>
              </a:rPr>
              <a:t>At 4 demos per mentor per shift, 62 demos requires 15.5 educators. A 16-mentor roster provides full coverage with a 15% surge buffer.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Timezone Shift Routing: </a:t>
            </a:r>
            <a:r>
              <a:rPr b="0" i="0" sz="850">
                <a:solidFill>
                  <a:srgbClr val="0F172A"/>
                </a:solidFill>
              </a:rPr>
              <a:t>Leads are routed dynamically based on parent phone area code and zip code to counselors in their matching timezone pod.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Weekend Morning Surge: </a:t>
            </a:r>
            <a:r>
              <a:rPr b="0" i="0" sz="850">
                <a:solidFill>
                  <a:srgbClr val="0F172A"/>
                </a:solidFill>
              </a:rPr>
              <a:t>Saturdays and Sundays feature 10:00 AM - 2:00 PM family slots to capture high-converting weekend demand.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8. Legal Compliance Architecture &amp; Assumptions Register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4338CA"/>
                </a:solidFill>
              </a:defRPr>
            </a:pPr>
            <a:r>
              <a:t>REGULATORY &amp; PRIVACY COMPLIANCE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TCPA (Telephone Consumer Protection Act): </a:t>
            </a:r>
            <a:r>
              <a:rPr b="0" i="0" sz="850">
                <a:solidFill>
                  <a:srgbClr val="0F172A"/>
                </a:solidFill>
              </a:rPr>
              <a:t>Mandatory explicit consent checkbox on Step 2. Clear disclosure that purchase is not conditional on consent, with one-click opt-out ('STOP').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COPPA (Children's Online Privacy Protection): </a:t>
            </a:r>
            <a:r>
              <a:rPr b="0" i="0" sz="850">
                <a:solidFill>
                  <a:srgbClr val="0F172A"/>
                </a:solidFill>
              </a:rPr>
              <a:t>Strict parent-facing intake gate. Zero child PII (name, age, grade) transmitted to Meta CAPI or ad networks; only SHA-256 hashed parent contact records.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Meta Minor Advertising Guidelines: </a:t>
            </a:r>
            <a:r>
              <a:rPr b="0" i="0" sz="850">
                <a:solidFill>
                  <a:srgbClr val="0F172A"/>
                </a:solidFill>
              </a:rPr>
              <a:t>Ad targeting configured strictly for Parents Age 30-55. Creative messaging emphasizes parental co-learning and academic enrichment.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4338CA"/>
                </a:solidFill>
              </a:defRPr>
            </a:pPr>
            <a:r>
              <a:t>ASSUMPTIONS REGISTER &amp; VALIDATION TESTS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Blended CPL $29.85: </a:t>
            </a:r>
            <a:r>
              <a:rPr b="0" i="0" sz="850">
                <a:solidFill>
                  <a:srgbClr val="0F172A"/>
                </a:solidFill>
              </a:rPr>
              <a:t>High confidence | Source: Q3 US Meta benchmark | Validating Test: Day 1-3 pilot at $2.5k/day in Dallas &amp; Bay Area.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Demo Show Rate 71%: </a:t>
            </a:r>
            <a:r>
              <a:rPr b="0" i="0" sz="850">
                <a:solidFill>
                  <a:srgbClr val="0F172A"/>
                </a:solidFill>
              </a:rPr>
              <a:t>High confidence | Source: Instant calendar lock + reminder cadence | Validating Test: First 100 scheduled slots Nov 1-4.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Demo Close Rate 17.9%: </a:t>
            </a:r>
            <a:r>
              <a:rPr b="0" i="0" sz="850">
                <a:solidFill>
                  <a:srgbClr val="0F172A"/>
                </a:solidFill>
              </a:rPr>
              <a:t>Medium confidence | Source: Senior US sales counselor pod | Validating Test: First 25 completed sessions.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Gross Margin 55%: </a:t>
            </a:r>
            <a:r>
              <a:rPr b="0" i="0" sz="850">
                <a:solidFill>
                  <a:srgbClr val="0F172A"/>
                </a:solidFill>
              </a:rPr>
              <a:t>High confidence | Source: Mentor payout ($30-35/hr) + SaaS COGS | Validating Test: Unit cost ledger audit.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9. First-10-Days Test Plan, Pre-Launch Checklist &amp; Leadership Asks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4338CA"/>
                </a:solidFill>
              </a:defRPr>
            </a:pPr>
            <a:r>
              <a:t>FIRST-10-DAYS TEST PLAN &amp; KILL CRITERIA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Days 1-3 (Signal Smoke Test): </a:t>
            </a:r>
            <a:r>
              <a:rPr b="0" i="0" sz="850">
                <a:solidFill>
                  <a:srgbClr val="0F172A"/>
                </a:solidFill>
              </a:rPr>
              <a:t>Pilot spend ($2.5k/day) in Bay Area &amp; Dallas. Verify CAPI EMQ &gt; 8.0 and slot sync.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Days 4-7 (Hook Calibration): </a:t>
            </a:r>
            <a:r>
              <a:rPr b="0" i="0" sz="850">
                <a:solidFill>
                  <a:srgbClr val="0F172A"/>
                </a:solidFill>
              </a:rPr>
              <a:t>A/B test 'Beyond Kumon' vs. 'Academic Logic Edge'. Calibrate ad-set CPMs.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Days 8-10 (Throughput Audit): </a:t>
            </a:r>
            <a:r>
              <a:rPr b="0" i="0" sz="850">
                <a:solidFill>
                  <a:srgbClr val="0F172A"/>
                </a:solidFill>
              </a:rPr>
              <a:t>First 200+ completed demos. Audit show rate and initial Stripe transactions.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KILL / PIVOT CRITERIA: </a:t>
            </a:r>
            <a:r>
              <a:rPr b="0" i="0" sz="850">
                <a:solidFill>
                  <a:srgbClr val="0F172A"/>
                </a:solidFill>
              </a:rPr>
              <a:t>
• Trigger 1: If Tier 1 CPL &gt; $42 after 150 leads -&gt; Shift 10% budget to Tier 2.
• Trigger 2: If Booking Rate &lt; 55% -&gt; Activate fallback 1-step sticky form.
• Trigger 3: If Show Rate &lt; 60% -&gt; Mandate manual phone check-in at T-4h.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4338CA"/>
                </a:solidFill>
              </a:defRPr>
            </a:pPr>
            <a:r>
              <a:t>PRE-LAUNCH CHECKLIST &amp; DECISIONS NEEDED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[x] Meta CAPI Pipeline: </a:t>
            </a:r>
            <a:r>
              <a:rPr b="0" i="0" sz="850">
                <a:solidFill>
                  <a:srgbClr val="0F172A"/>
                </a:solidFill>
              </a:rPr>
              <a:t>Verified with SHA-256 parent hashing &amp; monotonic event values.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[x] Mutually Exclusive Geos: </a:t>
            </a:r>
            <a:r>
              <a:rPr b="0" i="0" sz="850">
                <a:solidFill>
                  <a:srgbClr val="0F172A"/>
                </a:solidFill>
              </a:rPr>
              <a:t>Uploaded to Meta Business Manager.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[x] Landing Page Intake: </a:t>
            </a:r>
            <a:r>
              <a:rPr b="0" i="0" sz="850">
                <a:solidFill>
                  <a:srgbClr val="0F172A"/>
                </a:solidFill>
              </a:rPr>
              <a:t>Laptop access question, SMS OTP mock &amp; TCPA consent live.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[x] Campaign Optimization: </a:t>
            </a:r>
            <a:r>
              <a:rPr b="0" i="0" sz="850">
                <a:solidFill>
                  <a:srgbClr val="0F172A"/>
                </a:solidFill>
              </a:rPr>
              <a:t>Configured on 'Schedule' with 'Purchase' as value signal.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4338CA"/>
                </a:solidFill>
              </a:rPr>
              <a:t>DECISION 1: Budget Approval: </a:t>
            </a:r>
            <a:r>
              <a:rPr b="0" i="0" sz="850">
                <a:solidFill>
                  <a:srgbClr val="0F172A"/>
                </a:solidFill>
              </a:rPr>
              <a:t>Authorize $164,175 media pacing across Nov-Dec.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4338CA"/>
                </a:solidFill>
              </a:rPr>
              <a:t>DECISION 2: Counselor Assignment: </a:t>
            </a:r>
            <a:r>
              <a:rPr b="0" i="0" sz="850">
                <a:solidFill>
                  <a:srgbClr val="0F172A"/>
                </a:solidFill>
              </a:rPr>
              <a:t>Confirm roster of 16 dedicated US-shift mentors.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4338CA"/>
                </a:solidFill>
              </a:rPr>
              <a:t>DECISION 3: Holiday Voucher: </a:t>
            </a:r>
            <a:r>
              <a:rPr b="0" i="0" sz="850">
                <a:solidFill>
                  <a:srgbClr val="0F172A"/>
                </a:solidFill>
              </a:rPr>
              <a:t>Approve $150 tuition scholarship voucher for BFCM.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